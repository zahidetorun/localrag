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F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40080" y="960120"/>
            <a:ext cx="109728" cy="4480560"/>
          </a:xfrm>
          <a:prstGeom prst="rect">
            <a:avLst/>
          </a:prstGeom>
          <a:solidFill>
            <a:srgbClr val="50AA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1097280"/>
            <a:ext cx="10058400" cy="2011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800" b="1">
                <a:solidFill>
                  <a:srgbClr val="FFFFFF"/>
                </a:solidFill>
              </a:defRPr>
            </a:pPr>
            <a:r>
              <a:t>LOCAL RAG</a:t>
            </a:r>
          </a:p>
          <a:p>
            <a:pPr>
              <a:defRPr sz="2400">
                <a:solidFill>
                  <a:srgbClr val="D2E1F5"/>
                </a:solidFill>
              </a:defRPr>
            </a:pPr>
            <a:r>
              <a:t>Microsoft Foundry Local ile Yerel RAG Uygulaması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4069080"/>
            <a:ext cx="91440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BECDE1"/>
                </a:solidFill>
              </a:defRPr>
            </a:pPr>
            <a:r>
              <a:t>Node.js • JavaScript • OpenAI SDK • Phi-4-mini</a:t>
            </a:r>
          </a:p>
          <a:p>
            <a:pPr>
              <a:defRPr sz="1500">
                <a:solidFill>
                  <a:srgbClr val="A0B4CD"/>
                </a:solidFill>
              </a:defRPr>
            </a:pPr>
            <a:r>
              <a:t>Proje Tanıtımı ve Çalışma Demonstrasyonu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47472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41F33"/>
                </a:solidFill>
              </a:defRPr>
            </a:pPr>
            <a:r>
              <a:t>1. Projenin Amacı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25880"/>
            <a:ext cx="1069848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232830"/>
                </a:solidFill>
              </a:defRPr>
            </a:pPr>
            <a:r>
              <a:t>• Kullanıcı sorularını yerel dokümanlardan ilgili bilgilerle destekleyerek yanıtlamak.</a:t>
            </a:r>
          </a:p>
          <a:p>
            <a:pPr>
              <a:spcAft>
                <a:spcPts val="1200"/>
              </a:spcAft>
              <a:defRPr sz="2000">
                <a:solidFill>
                  <a:srgbClr val="232830"/>
                </a:solidFill>
              </a:defRPr>
            </a:pPr>
            <a:r>
              <a:t>• RAG (Retrieval-Augmented Generation) yaklaşımını Microsoft Foundry Local üzerinde uygulamak.</a:t>
            </a:r>
          </a:p>
          <a:p>
            <a:pPr>
              <a:spcAft>
                <a:spcPts val="1200"/>
              </a:spcAft>
              <a:defRPr sz="2000">
                <a:solidFill>
                  <a:srgbClr val="232830"/>
                </a:solidFill>
              </a:defRPr>
            </a:pPr>
            <a:r>
              <a:t>• Yapay zekâ modelini internet tabanlı bir servise ihtiyaç duymadan yerel bilgisayarda çalıştırmak.</a:t>
            </a:r>
          </a:p>
          <a:p>
            <a:pPr>
              <a:spcAft>
                <a:spcPts val="1200"/>
              </a:spcAft>
              <a:defRPr sz="2000">
                <a:solidFill>
                  <a:srgbClr val="232830"/>
                </a:solidFill>
              </a:defRPr>
            </a:pPr>
            <a:r>
              <a:t>• Dokümandan bulunan bağlamı Phi-4-mini modeline göndererek anlamlı bir AI Answer üretmek.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6519672"/>
            <a:ext cx="10972800" cy="18288"/>
          </a:xfrm>
          <a:prstGeom prst="rect">
            <a:avLst/>
          </a:prstGeom>
          <a:solidFill>
            <a:srgbClr val="DCE1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789920" y="6547104"/>
            <a:ext cx="73152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787D87"/>
                </a:solidFill>
              </a:defRPr>
            </a:pPr>
            <a: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47472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41F33"/>
                </a:solidFill>
              </a:defRPr>
            </a:pPr>
            <a:r>
              <a:t>2. Kullanılan Teknolojiler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325880"/>
            <a:ext cx="2468880" cy="566928"/>
          </a:xfrm>
          <a:prstGeom prst="roundRect">
            <a:avLst/>
          </a:prstGeom>
          <a:solidFill>
            <a:srgbClr val="F4F7FB"/>
          </a:solidFill>
          <a:ln>
            <a:solidFill>
              <a:srgbClr val="D7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1600">
                <a:solidFill>
                  <a:srgbClr val="141F33"/>
                </a:solidFill>
              </a:defRPr>
            </a:pPr>
            <a:r>
              <a:t>Node.js / JavaScript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429000" y="1353312"/>
            <a:ext cx="7772400" cy="53035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232830"/>
                </a:solidFill>
              </a:defRPr>
            </a:pPr>
            <a:r>
              <a:t>Uygulamanın çalışma ortamı ve temel programlama dili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075688"/>
            <a:ext cx="2468880" cy="566928"/>
          </a:xfrm>
          <a:prstGeom prst="roundRect">
            <a:avLst/>
          </a:prstGeom>
          <a:solidFill>
            <a:srgbClr val="F4F7FB"/>
          </a:solidFill>
          <a:ln>
            <a:solidFill>
              <a:srgbClr val="D7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1600">
                <a:solidFill>
                  <a:srgbClr val="141F33"/>
                </a:solidFill>
              </a:defRPr>
            </a:pPr>
            <a:r>
              <a:t>Microsoft Foundry Local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429000" y="2103120"/>
            <a:ext cx="7772400" cy="53035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232830"/>
                </a:solidFill>
              </a:defRPr>
            </a:pPr>
            <a:r>
              <a:t>Yerel yapay zekâ modellerini çalıştıran platform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2825496"/>
            <a:ext cx="2468880" cy="566928"/>
          </a:xfrm>
          <a:prstGeom prst="roundRect">
            <a:avLst/>
          </a:prstGeom>
          <a:solidFill>
            <a:srgbClr val="F4F7FB"/>
          </a:solidFill>
          <a:ln>
            <a:solidFill>
              <a:srgbClr val="D7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1600">
                <a:solidFill>
                  <a:srgbClr val="141F33"/>
                </a:solidFill>
              </a:defRPr>
            </a:pPr>
            <a:r>
              <a:t>Phi-4-mini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429000" y="2852927"/>
            <a:ext cx="7772400" cy="53035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232830"/>
                </a:solidFill>
              </a:defRPr>
            </a:pPr>
            <a:r>
              <a:t>Projede kullanılan yerel dil modeli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3575303"/>
            <a:ext cx="2468880" cy="566928"/>
          </a:xfrm>
          <a:prstGeom prst="roundRect">
            <a:avLst/>
          </a:prstGeom>
          <a:solidFill>
            <a:srgbClr val="F4F7FB"/>
          </a:solidFill>
          <a:ln>
            <a:solidFill>
              <a:srgbClr val="D7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1600">
                <a:solidFill>
                  <a:srgbClr val="141F33"/>
                </a:solidFill>
              </a:defRPr>
            </a:pPr>
            <a:r>
              <a:t>OpenAI SDK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429000" y="3602735"/>
            <a:ext cx="7772400" cy="53035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232830"/>
                </a:solidFill>
              </a:defRPr>
            </a:pPr>
            <a:r>
              <a:t>Foundry Local ile OpenAI uyumlu API üzerinden iletişim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4325112"/>
            <a:ext cx="2468880" cy="566928"/>
          </a:xfrm>
          <a:prstGeom prst="roundRect">
            <a:avLst/>
          </a:prstGeom>
          <a:solidFill>
            <a:srgbClr val="F4F7FB"/>
          </a:solidFill>
          <a:ln>
            <a:solidFill>
              <a:srgbClr val="D7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1600">
                <a:solidFill>
                  <a:srgbClr val="141F33"/>
                </a:solidFill>
              </a:defRPr>
            </a:pPr>
            <a:r>
              <a:t>RAG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429000" y="4352544"/>
            <a:ext cx="7772400" cy="53035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232830"/>
                </a:solidFill>
              </a:defRPr>
            </a:pPr>
            <a:r>
              <a:t>Dokümandan ilgili bağlamı bulup modele aktaran yaklaşım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5074920"/>
            <a:ext cx="2468880" cy="566928"/>
          </a:xfrm>
          <a:prstGeom prst="roundRect">
            <a:avLst/>
          </a:prstGeom>
          <a:solidFill>
            <a:srgbClr val="F4F7FB"/>
          </a:solidFill>
          <a:ln>
            <a:solidFill>
              <a:srgbClr val="D7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1600">
                <a:solidFill>
                  <a:srgbClr val="141F33"/>
                </a:solidFill>
              </a:defRPr>
            </a:pPr>
            <a:r>
              <a:t>Git / GitHub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429000" y="5102352"/>
            <a:ext cx="7772400" cy="53035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232830"/>
                </a:solidFill>
              </a:defRPr>
            </a:pPr>
            <a:r>
              <a:t>Kaynak kod yönetimi ve proje paylaşımı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94360" y="6519672"/>
            <a:ext cx="10972800" cy="18288"/>
          </a:xfrm>
          <a:prstGeom prst="rect">
            <a:avLst/>
          </a:prstGeom>
          <a:solidFill>
            <a:srgbClr val="DCE1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789920" y="6547104"/>
            <a:ext cx="73152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787D87"/>
                </a:solidFill>
              </a:defRPr>
            </a:pPr>
            <a: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47472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41F33"/>
                </a:solidFill>
              </a:defRPr>
            </a:pPr>
            <a:r>
              <a:t>3. Sistem Nasıl Çalışıyor?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914400"/>
            <a:ext cx="10789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2C69B4"/>
                </a:solidFill>
              </a:defRPr>
            </a:pPr>
            <a:r>
              <a:t>RAG işlem akışı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2423160"/>
            <a:ext cx="1783080" cy="1005840"/>
          </a:xfrm>
          <a:prstGeom prst="roundRect">
            <a:avLst/>
          </a:prstGeom>
          <a:solidFill>
            <a:srgbClr val="F4F7FB"/>
          </a:solidFill>
          <a:ln>
            <a:solidFill>
              <a:srgbClr val="2C69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2C69B4"/>
                </a:solidFill>
              </a:defRPr>
            </a:pPr>
            <a:r>
              <a:t>1</a:t>
            </a:r>
          </a:p>
          <a:p>
            <a:pPr algn="ctr">
              <a:defRPr sz="1300" b="1">
                <a:solidFill>
                  <a:srgbClr val="141F33"/>
                </a:solidFill>
              </a:defRPr>
            </a:pPr>
            <a:r>
              <a:t>Kullanıcı Sorusu</a:t>
            </a:r>
          </a:p>
        </p:txBody>
      </p:sp>
      <p:sp>
        <p:nvSpPr>
          <p:cNvPr id="6" name="Chevron 5"/>
          <p:cNvSpPr/>
          <p:nvPr/>
        </p:nvSpPr>
        <p:spPr>
          <a:xfrm>
            <a:off x="2359152" y="2743200"/>
            <a:ext cx="347472" cy="411480"/>
          </a:xfrm>
          <a:prstGeom prst="chevron">
            <a:avLst/>
          </a:prstGeom>
          <a:solidFill>
            <a:srgbClr val="B4BE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2404872" y="2423160"/>
            <a:ext cx="1783080" cy="1005840"/>
          </a:xfrm>
          <a:prstGeom prst="roundRect">
            <a:avLst/>
          </a:prstGeom>
          <a:solidFill>
            <a:srgbClr val="F4F7FB"/>
          </a:solidFill>
          <a:ln>
            <a:solidFill>
              <a:srgbClr val="2C69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2C69B4"/>
                </a:solidFill>
              </a:defRPr>
            </a:pPr>
            <a:r>
              <a:t>2</a:t>
            </a:r>
          </a:p>
          <a:p>
            <a:pPr algn="ctr">
              <a:defRPr sz="1300" b="1">
                <a:solidFill>
                  <a:srgbClr val="141F33"/>
                </a:solidFill>
              </a:defRPr>
            </a:pPr>
            <a:r>
              <a:t>Dokümanların Yüklenmesi</a:t>
            </a:r>
          </a:p>
        </p:txBody>
      </p:sp>
      <p:sp>
        <p:nvSpPr>
          <p:cNvPr id="8" name="Chevron 7"/>
          <p:cNvSpPr/>
          <p:nvPr/>
        </p:nvSpPr>
        <p:spPr>
          <a:xfrm>
            <a:off x="4261104" y="2743200"/>
            <a:ext cx="347472" cy="411480"/>
          </a:xfrm>
          <a:prstGeom prst="chevron">
            <a:avLst/>
          </a:prstGeom>
          <a:solidFill>
            <a:srgbClr val="B4BE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4306824" y="2423160"/>
            <a:ext cx="1783080" cy="1005840"/>
          </a:xfrm>
          <a:prstGeom prst="roundRect">
            <a:avLst/>
          </a:prstGeom>
          <a:solidFill>
            <a:srgbClr val="F4F7FB"/>
          </a:solidFill>
          <a:ln>
            <a:solidFill>
              <a:srgbClr val="2C69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2C69B4"/>
                </a:solidFill>
              </a:defRPr>
            </a:pPr>
            <a:r>
              <a:t>3</a:t>
            </a:r>
          </a:p>
          <a:p>
            <a:pPr algn="ctr">
              <a:defRPr sz="1300" b="1">
                <a:solidFill>
                  <a:srgbClr val="141F33"/>
                </a:solidFill>
              </a:defRPr>
            </a:pPr>
            <a:r>
              <a:t>İlgili Paragrafların Bulunması</a:t>
            </a:r>
          </a:p>
        </p:txBody>
      </p:sp>
      <p:sp>
        <p:nvSpPr>
          <p:cNvPr id="10" name="Chevron 9"/>
          <p:cNvSpPr/>
          <p:nvPr/>
        </p:nvSpPr>
        <p:spPr>
          <a:xfrm>
            <a:off x="6163056" y="2743200"/>
            <a:ext cx="347472" cy="411480"/>
          </a:xfrm>
          <a:prstGeom prst="chevron">
            <a:avLst/>
          </a:prstGeom>
          <a:solidFill>
            <a:srgbClr val="B4BE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208776" y="2423160"/>
            <a:ext cx="1783080" cy="1005840"/>
          </a:xfrm>
          <a:prstGeom prst="roundRect">
            <a:avLst/>
          </a:prstGeom>
          <a:solidFill>
            <a:srgbClr val="F4F7FB"/>
          </a:solidFill>
          <a:ln>
            <a:solidFill>
              <a:srgbClr val="2C69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2C69B4"/>
                </a:solidFill>
              </a:defRPr>
            </a:pPr>
            <a:r>
              <a:t>4</a:t>
            </a:r>
          </a:p>
          <a:p>
            <a:pPr algn="ctr">
              <a:defRPr sz="1300" b="1">
                <a:solidFill>
                  <a:srgbClr val="141F33"/>
                </a:solidFill>
              </a:defRPr>
            </a:pPr>
            <a:r>
              <a:t>Retrieved Context</a:t>
            </a:r>
          </a:p>
        </p:txBody>
      </p:sp>
      <p:sp>
        <p:nvSpPr>
          <p:cNvPr id="12" name="Chevron 11"/>
          <p:cNvSpPr/>
          <p:nvPr/>
        </p:nvSpPr>
        <p:spPr>
          <a:xfrm>
            <a:off x="8065008" y="2743200"/>
            <a:ext cx="347472" cy="411480"/>
          </a:xfrm>
          <a:prstGeom prst="chevron">
            <a:avLst/>
          </a:prstGeom>
          <a:solidFill>
            <a:srgbClr val="B4BE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8110728" y="2423160"/>
            <a:ext cx="1783080" cy="1005840"/>
          </a:xfrm>
          <a:prstGeom prst="roundRect">
            <a:avLst/>
          </a:prstGeom>
          <a:solidFill>
            <a:srgbClr val="F4F7FB"/>
          </a:solidFill>
          <a:ln>
            <a:solidFill>
              <a:srgbClr val="2C69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2C69B4"/>
                </a:solidFill>
              </a:defRPr>
            </a:pPr>
            <a:r>
              <a:t>5</a:t>
            </a:r>
          </a:p>
          <a:p>
            <a:pPr algn="ctr">
              <a:defRPr sz="1300" b="1">
                <a:solidFill>
                  <a:srgbClr val="141F33"/>
                </a:solidFill>
              </a:defRPr>
            </a:pPr>
            <a:r>
              <a:t>Phi-4-mini</a:t>
            </a:r>
          </a:p>
        </p:txBody>
      </p:sp>
      <p:sp>
        <p:nvSpPr>
          <p:cNvPr id="14" name="Chevron 13"/>
          <p:cNvSpPr/>
          <p:nvPr/>
        </p:nvSpPr>
        <p:spPr>
          <a:xfrm>
            <a:off x="9966960" y="2743200"/>
            <a:ext cx="347472" cy="411480"/>
          </a:xfrm>
          <a:prstGeom prst="chevron">
            <a:avLst/>
          </a:prstGeom>
          <a:solidFill>
            <a:srgbClr val="B4BE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10012680" y="2423160"/>
            <a:ext cx="1783080" cy="1005840"/>
          </a:xfrm>
          <a:prstGeom prst="roundRect">
            <a:avLst/>
          </a:prstGeom>
          <a:solidFill>
            <a:srgbClr val="F4F7FB"/>
          </a:solidFill>
          <a:ln>
            <a:solidFill>
              <a:srgbClr val="2C69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2C69B4"/>
                </a:solidFill>
              </a:defRPr>
            </a:pPr>
            <a:r>
              <a:t>6</a:t>
            </a:r>
          </a:p>
          <a:p>
            <a:pPr algn="ctr">
              <a:defRPr sz="1300" b="1">
                <a:solidFill>
                  <a:srgbClr val="141F33"/>
                </a:solidFill>
              </a:defRPr>
            </a:pPr>
            <a:r>
              <a:t>AI Answer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4160520"/>
            <a:ext cx="10332720" cy="1005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>
                <a:solidFill>
                  <a:srgbClr val="232830"/>
                </a:solidFill>
              </a:defRPr>
            </a:pPr>
            <a:r>
              <a:t>Temel fikir: Model, soruyu yalnızca kendi bilgisinden yanıtlamak yerine önce yerel dokümandan ilgili bilgiyi alır ve bu bilgiyi cevap üretirken bağlam olarak kullanır.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94360" y="6519672"/>
            <a:ext cx="10972800" cy="18288"/>
          </a:xfrm>
          <a:prstGeom prst="rect">
            <a:avLst/>
          </a:prstGeom>
          <a:solidFill>
            <a:srgbClr val="DCE1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789920" y="6547104"/>
            <a:ext cx="73152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787D87"/>
                </a:solidFill>
              </a:defRPr>
            </a:pPr>
            <a: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47472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41F33"/>
                </a:solidFill>
              </a:defRPr>
            </a:pPr>
            <a:r>
              <a:t>4. Kodda Foundry Local Bağlantısı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325880"/>
            <a:ext cx="6583680" cy="4480560"/>
          </a:xfrm>
          <a:prstGeom prst="roundRect">
            <a:avLst/>
          </a:prstGeom>
          <a:solidFill>
            <a:srgbClr val="1B1F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60120" y="1536192"/>
            <a:ext cx="6126480" cy="4069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FFFFFF"/>
                </a:solidFill>
                <a:latin typeface="Consolas"/>
              </a:defRPr>
            </a:pPr>
            <a:r>
              <a:t>import OpenAI from "openai";</a:t>
            </a:r>
            <a:br/>
            <a:br/>
            <a:r>
              <a:t>const client = new OpenAI({</a:t>
            </a:r>
            <a:br/>
            <a:r>
              <a:t>  baseURL: "http://127.0.0.1:49318/v1",</a:t>
            </a:r>
            <a:br/>
            <a:r>
              <a:t>  apiKey: "foundry-local"</a:t>
            </a:r>
            <a:br/>
            <a:r>
              <a:t>});</a:t>
            </a:r>
            <a:br/>
            <a:br/>
            <a:r>
              <a:t>const response = await client.chat.completions.create({</a:t>
            </a:r>
            <a:br/>
            <a:r>
              <a:t>  model: "phi-4-mini",</a:t>
            </a:r>
            <a:br/>
            <a:r>
              <a:t>  messages: [</a:t>
            </a:r>
            <a:br/>
            <a:r>
              <a:t>    {</a:t>
            </a:r>
            <a:br/>
            <a:r>
              <a:t>      role: "user",</a:t>
            </a:r>
            <a:br/>
            <a:r>
              <a:t>      content: "Merhaba! Kendini kısaca tanıt."</a:t>
            </a:r>
            <a:br/>
            <a:r>
              <a:t>    }</a:t>
            </a:r>
            <a:br/>
            <a:r>
              <a:t>  ]</a:t>
            </a:r>
            <a:br/>
            <a:r>
              <a:t>});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26679" y="1508760"/>
            <a:ext cx="3566160" cy="4023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600"/>
              </a:spcAft>
              <a:defRPr sz="1800">
                <a:solidFill>
                  <a:srgbClr val="232830"/>
                </a:solidFill>
              </a:defRPr>
            </a:pPr>
            <a:r>
              <a:t>• Local endpoint üzerinden Foundry Local'a bağlanılıyor.</a:t>
            </a:r>
          </a:p>
          <a:p>
            <a:pPr>
              <a:spcAft>
                <a:spcPts val="1600"/>
              </a:spcAft>
              <a:defRPr sz="1800">
                <a:solidFill>
                  <a:srgbClr val="232830"/>
                </a:solidFill>
              </a:defRPr>
            </a:pPr>
            <a:r>
              <a:t>• API key olarak local çalışma için `foundry-local` kullanılıyor.</a:t>
            </a:r>
          </a:p>
          <a:p>
            <a:pPr>
              <a:spcAft>
                <a:spcPts val="1600"/>
              </a:spcAft>
              <a:defRPr sz="1800">
                <a:solidFill>
                  <a:srgbClr val="232830"/>
                </a:solidFill>
              </a:defRPr>
            </a:pPr>
            <a:r>
              <a:t>• Model olarak `phi-4-mini` seçiliyor.</a:t>
            </a:r>
          </a:p>
          <a:p>
            <a:pPr>
              <a:spcAft>
                <a:spcPts val="1600"/>
              </a:spcAft>
              <a:defRPr sz="1800">
                <a:solidFill>
                  <a:srgbClr val="232830"/>
                </a:solidFill>
              </a:defRPr>
            </a:pPr>
            <a:r>
              <a:t>• OpenAI SDK ile chat completion isteği gönderiliyor.</a:t>
            </a:r>
          </a:p>
        </p:txBody>
      </p:sp>
      <p:sp>
        <p:nvSpPr>
          <p:cNvPr id="7" name="Rectangle 6"/>
          <p:cNvSpPr/>
          <p:nvPr/>
        </p:nvSpPr>
        <p:spPr>
          <a:xfrm>
            <a:off x="594360" y="6519672"/>
            <a:ext cx="10972800" cy="18288"/>
          </a:xfrm>
          <a:prstGeom prst="rect">
            <a:avLst/>
          </a:prstGeom>
          <a:solidFill>
            <a:srgbClr val="DCE1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789920" y="6547104"/>
            <a:ext cx="73152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787D87"/>
                </a:solidFill>
              </a:defRPr>
            </a:pPr>
            <a: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47472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41F33"/>
                </a:solidFill>
              </a:defRPr>
            </a:pPr>
            <a:r>
              <a:t>5. Demo — RAG Sorgusu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914400"/>
            <a:ext cx="10789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2C69B4"/>
                </a:solidFill>
              </a:defRPr>
            </a:pPr>
            <a:r>
              <a:t>`RAG nedir?` sorusunun dokümandan cevaplanması</a:t>
            </a:r>
          </a:p>
        </p:txBody>
      </p:sp>
      <p:pic>
        <p:nvPicPr>
          <p:cNvPr id="5" name="Picture 4" descr="61415981-ac7e-4eb3-a725-4d3cec44f99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234440"/>
            <a:ext cx="10927080" cy="502920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594360" y="6519672"/>
            <a:ext cx="10972800" cy="18288"/>
          </a:xfrm>
          <a:prstGeom prst="rect">
            <a:avLst/>
          </a:prstGeom>
          <a:solidFill>
            <a:srgbClr val="DCE1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789920" y="6547104"/>
            <a:ext cx="73152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787D87"/>
                </a:solidFill>
              </a:defRPr>
            </a:pPr>
            <a: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47472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41F33"/>
                </a:solidFill>
              </a:defRPr>
            </a:pPr>
            <a:r>
              <a:t>6. Demo — Model ve Uygulama Akışı</a:t>
            </a:r>
          </a:p>
        </p:txBody>
      </p:sp>
      <p:pic>
        <p:nvPicPr>
          <p:cNvPr id="4" name="Picture 3" descr="89d4bec8-262c-42cd-9ba6-775c0beb956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234440"/>
            <a:ext cx="5623560" cy="5074920"/>
          </a:xfrm>
          <a:prstGeom prst="rect">
            <a:avLst/>
          </a:prstGeom>
        </p:spPr>
      </p:pic>
      <p:pic>
        <p:nvPicPr>
          <p:cNvPr id="5" name="Picture 4" descr="f703a1de-0197-47f3-8fa7-e0df64895554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09360" y="1234440"/>
            <a:ext cx="5394960" cy="507492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594360" y="6519672"/>
            <a:ext cx="10972800" cy="18288"/>
          </a:xfrm>
          <a:prstGeom prst="rect">
            <a:avLst/>
          </a:prstGeom>
          <a:solidFill>
            <a:srgbClr val="DCE1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789920" y="6547104"/>
            <a:ext cx="73152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787D87"/>
                </a:solidFill>
              </a:defRPr>
            </a:pPr>
            <a: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47472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41F33"/>
                </a:solidFill>
              </a:defRPr>
            </a:pPr>
            <a:r>
              <a:t>7. Test Sonuçları</a:t>
            </a:r>
          </a:p>
        </p:txBody>
      </p:sp>
      <p:sp>
        <p:nvSpPr>
          <p:cNvPr id="4" name="Oval 3"/>
          <p:cNvSpPr/>
          <p:nvPr/>
        </p:nvSpPr>
        <p:spPr>
          <a:xfrm>
            <a:off x="777240" y="1362456"/>
            <a:ext cx="384048" cy="384048"/>
          </a:xfrm>
          <a:prstGeom prst="ellipse">
            <a:avLst/>
          </a:prstGeom>
          <a:solidFill>
            <a:srgbClr val="2682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325880" y="1325880"/>
            <a:ext cx="310896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141F33"/>
                </a:solidFill>
              </a:defRPr>
            </a:pPr>
            <a:r>
              <a:t>Document loaded successfully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343400" y="1325880"/>
            <a:ext cx="67665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>
                <a:solidFill>
                  <a:srgbClr val="232830"/>
                </a:solidFill>
              </a:defRPr>
            </a:pPr>
            <a:r>
              <a:t>Doküman başarıyla yüklendi.</a:t>
            </a:r>
          </a:p>
        </p:txBody>
      </p:sp>
      <p:sp>
        <p:nvSpPr>
          <p:cNvPr id="7" name="Oval 6"/>
          <p:cNvSpPr/>
          <p:nvPr/>
        </p:nvSpPr>
        <p:spPr>
          <a:xfrm>
            <a:off x="777240" y="2203704"/>
            <a:ext cx="384048" cy="384048"/>
          </a:xfrm>
          <a:prstGeom prst="ellipse">
            <a:avLst/>
          </a:prstGeom>
          <a:solidFill>
            <a:srgbClr val="2682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325880" y="2167128"/>
            <a:ext cx="310896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141F33"/>
                </a:solidFill>
              </a:defRPr>
            </a:pPr>
            <a:r>
              <a:t>Connected to Foundry Local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343400" y="2167128"/>
            <a:ext cx="67665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>
                <a:solidFill>
                  <a:srgbClr val="232830"/>
                </a:solidFill>
              </a:defRPr>
            </a:pPr>
            <a:r>
              <a:t>Yerel Foundry Local servisine bağlantı sağlandı.</a:t>
            </a:r>
          </a:p>
        </p:txBody>
      </p:sp>
      <p:sp>
        <p:nvSpPr>
          <p:cNvPr id="10" name="Oval 9"/>
          <p:cNvSpPr/>
          <p:nvPr/>
        </p:nvSpPr>
        <p:spPr>
          <a:xfrm>
            <a:off x="777240" y="3044952"/>
            <a:ext cx="384048" cy="384048"/>
          </a:xfrm>
          <a:prstGeom prst="ellipse">
            <a:avLst/>
          </a:prstGeom>
          <a:solidFill>
            <a:srgbClr val="2682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325880" y="3008376"/>
            <a:ext cx="310896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141F33"/>
                </a:solidFill>
              </a:defRPr>
            </a:pPr>
            <a:r>
              <a:t>5 document sections loaded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343400" y="3008376"/>
            <a:ext cx="67665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>
                <a:solidFill>
                  <a:srgbClr val="232830"/>
                </a:solidFill>
              </a:defRPr>
            </a:pPr>
            <a:r>
              <a:t>Doküman 5 bölüme ayrılarak işlendi.</a:t>
            </a:r>
          </a:p>
        </p:txBody>
      </p:sp>
      <p:sp>
        <p:nvSpPr>
          <p:cNvPr id="13" name="Oval 12"/>
          <p:cNvSpPr/>
          <p:nvPr/>
        </p:nvSpPr>
        <p:spPr>
          <a:xfrm>
            <a:off x="777240" y="3886200"/>
            <a:ext cx="384048" cy="384048"/>
          </a:xfrm>
          <a:prstGeom prst="ellipse">
            <a:avLst/>
          </a:prstGeom>
          <a:solidFill>
            <a:srgbClr val="2682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325880" y="3849624"/>
            <a:ext cx="310896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141F33"/>
                </a:solidFill>
              </a:defRPr>
            </a:pPr>
            <a:r>
              <a:t>Retrieved Context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343400" y="3849624"/>
            <a:ext cx="67665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>
                <a:solidFill>
                  <a:srgbClr val="232830"/>
                </a:solidFill>
              </a:defRPr>
            </a:pPr>
            <a:r>
              <a:t>Soruyla ilişkili içerik dokümandan getirildi.</a:t>
            </a:r>
          </a:p>
        </p:txBody>
      </p:sp>
      <p:sp>
        <p:nvSpPr>
          <p:cNvPr id="16" name="Oval 15"/>
          <p:cNvSpPr/>
          <p:nvPr/>
        </p:nvSpPr>
        <p:spPr>
          <a:xfrm>
            <a:off x="777240" y="4727448"/>
            <a:ext cx="384048" cy="384048"/>
          </a:xfrm>
          <a:prstGeom prst="ellipse">
            <a:avLst/>
          </a:prstGeom>
          <a:solidFill>
            <a:srgbClr val="2682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325880" y="4690872"/>
            <a:ext cx="310896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141F33"/>
                </a:solidFill>
              </a:defRPr>
            </a:pPr>
            <a:r>
              <a:t>AI Answer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343400" y="4690872"/>
            <a:ext cx="67665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>
                <a:solidFill>
                  <a:srgbClr val="232830"/>
                </a:solidFill>
              </a:defRPr>
            </a:pPr>
            <a:r>
              <a:t>Phi-4-mini, getirilen bağlamı kullanarak yanıt üretti.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94360" y="6519672"/>
            <a:ext cx="10972800" cy="18288"/>
          </a:xfrm>
          <a:prstGeom prst="rect">
            <a:avLst/>
          </a:prstGeom>
          <a:solidFill>
            <a:srgbClr val="DCE1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789920" y="6547104"/>
            <a:ext cx="73152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787D87"/>
                </a:solidFill>
              </a:defRPr>
            </a:pPr>
            <a: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F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1051560"/>
            <a:ext cx="1060704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400" b="1">
                <a:solidFill>
                  <a:srgbClr val="FFFFFF"/>
                </a:solidFill>
              </a:defRPr>
            </a:pPr>
            <a:r>
              <a:t>8. Sonuç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1005840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100">
                <a:solidFill>
                  <a:srgbClr val="232830"/>
                </a:solidFill>
              </a:defRPr>
            </a:pPr>
            <a:r>
              <a:t>• Yerel bir RAG uygulaması başarıyla oluşturuldu.</a:t>
            </a:r>
          </a:p>
          <a:p>
            <a:pPr>
              <a:spcAft>
                <a:spcPts val="1200"/>
              </a:spcAft>
              <a:defRPr sz="2100">
                <a:solidFill>
                  <a:srgbClr val="232830"/>
                </a:solidFill>
              </a:defRPr>
            </a:pPr>
            <a:r>
              <a:t>• Dokümandan ilgili bağlamın bulunması ve modele aktarılması gösterildi.</a:t>
            </a:r>
          </a:p>
          <a:p>
            <a:pPr>
              <a:spcAft>
                <a:spcPts val="1200"/>
              </a:spcAft>
              <a:defRPr sz="2100">
                <a:solidFill>
                  <a:srgbClr val="232830"/>
                </a:solidFill>
              </a:defRPr>
            </a:pPr>
            <a:r>
              <a:t>• Phi-4-mini, Microsoft Foundry Local üzerinde yerel olarak kullanıldı.</a:t>
            </a:r>
          </a:p>
          <a:p>
            <a:pPr>
              <a:spcAft>
                <a:spcPts val="1200"/>
              </a:spcAft>
              <a:defRPr sz="2100">
                <a:solidFill>
                  <a:srgbClr val="232830"/>
                </a:solidFill>
              </a:defRPr>
            </a:pPr>
            <a:r>
              <a:t>• Proje; Node.js, JavaScript ve OpenAI uyumlu API yaklaşımını bir araya getiriyor.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6519672"/>
            <a:ext cx="10972800" cy="18288"/>
          </a:xfrm>
          <a:prstGeom prst="rect">
            <a:avLst/>
          </a:prstGeom>
          <a:solidFill>
            <a:srgbClr val="DCE1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789920" y="6547104"/>
            <a:ext cx="73152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787D87"/>
                </a:solidFill>
              </a:defRPr>
            </a:pPr>
            <a:r>
              <a:t>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